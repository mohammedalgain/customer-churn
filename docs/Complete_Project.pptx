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130DDF-46BF-4BAB-ABC2-56BC110CC8FB}">
  <a:tblStyle styleId="{9F130DDF-46BF-4BAB-ABC2-56BC110CC8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6" d="100"/>
          <a:sy n="206" d="100"/>
        </p:scale>
        <p:origin x="50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 rot="1800000">
            <a:off x="6858000" y="3200400"/>
            <a:ext cx="2560320" cy="2560320"/>
          </a:xfrm>
          <a:prstGeom prst="rect">
            <a:avLst/>
          </a:prstGeom>
          <a:solidFill>
            <a:srgbClr val="1C2E40"/>
          </a:solidFill>
          <a:ln w="12700" cap="flat" cmpd="sng">
            <a:solidFill>
              <a:srgbClr val="1C2E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 rot="900000">
            <a:off x="7772400" y="0"/>
            <a:ext cx="1645920" cy="2011680"/>
          </a:xfrm>
          <a:prstGeom prst="rect">
            <a:avLst/>
          </a:prstGeom>
          <a:solidFill>
            <a:srgbClr val="1C2E40"/>
          </a:solidFill>
          <a:ln w="12700" cap="flat" cmpd="sng">
            <a:solidFill>
              <a:srgbClr val="1C2E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MACHINE LEARNING PROJECT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365760" y="1005840"/>
            <a:ext cx="73152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lang="en-US" sz="4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1: Data Preparation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lang="en-US" sz="4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&amp; EDA Report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65760" y="3063240"/>
            <a:ext cx="5486400" cy="36576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5760" y="3200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Islamic University of Madinah  ·  </a:t>
            </a:r>
            <a:r>
              <a:rPr lang="en-US" sz="1200">
                <a:solidFill>
                  <a:srgbClr val="C8B86A"/>
                </a:solidFill>
                <a:latin typeface="Arial"/>
                <a:ea typeface="Arial"/>
                <a:cs typeface="Arial"/>
                <a:sym typeface="Arial"/>
              </a:rPr>
              <a:t>Dr. Fayçal Hamdi &amp; Mr. Ali Dumlu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60" y="3566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Academic Year 2025–2026  ·  Semester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43600" y="3474720"/>
            <a:ext cx="1554480" cy="713232"/>
          </a:xfrm>
          <a:prstGeom prst="rect">
            <a:avLst/>
          </a:prstGeom>
          <a:solidFill>
            <a:srgbClr val="1C2E40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943600" y="350215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3,000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943600" y="385876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Customers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635240" y="3474720"/>
            <a:ext cx="1554480" cy="713232"/>
          </a:xfrm>
          <a:prstGeom prst="rect">
            <a:avLst/>
          </a:prstGeom>
          <a:solidFill>
            <a:srgbClr val="1C2E40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635240" y="350215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24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635240" y="385876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943600" y="4279392"/>
            <a:ext cx="1554480" cy="713232"/>
          </a:xfrm>
          <a:prstGeom prst="rect">
            <a:avLst/>
          </a:prstGeom>
          <a:solidFill>
            <a:srgbClr val="1C2E40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943600" y="4306824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36.2%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943600" y="466344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Churn Rate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635240" y="4279392"/>
            <a:ext cx="1554480" cy="713232"/>
          </a:xfrm>
          <a:prstGeom prst="rect">
            <a:avLst/>
          </a:prstGeom>
          <a:solidFill>
            <a:srgbClr val="1C2E40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635240" y="4306824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7635240" y="466344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Missing Cols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520"/>
          </a:solidFill>
          <a:ln w="12700" cap="flat" cmpd="sng">
            <a:solidFill>
              <a:srgbClr val="0A15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09728" y="4727448"/>
            <a:ext cx="14630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B86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C8B86A"/>
                </a:solidFill>
                <a:latin typeface="Arial"/>
                <a:ea typeface="Arial"/>
                <a:cs typeface="Arial"/>
                <a:sym typeface="Arial"/>
              </a:rPr>
              <a:t>1. EDA Before Cleaning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618488" y="4727448"/>
            <a:ext cx="14630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B86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C8B86A"/>
                </a:solidFill>
                <a:latin typeface="Arial"/>
                <a:ea typeface="Arial"/>
                <a:cs typeface="Arial"/>
                <a:sym typeface="Arial"/>
              </a:rPr>
              <a:t>2. Missing Value Analysis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127248" y="4727448"/>
            <a:ext cx="14630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B86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C8B86A"/>
                </a:solidFill>
                <a:latin typeface="Arial"/>
                <a:ea typeface="Arial"/>
                <a:cs typeface="Arial"/>
                <a:sym typeface="Arial"/>
              </a:rPr>
              <a:t>3. Outlier Analysis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636008" y="4727448"/>
            <a:ext cx="14630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B86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C8B86A"/>
                </a:solidFill>
                <a:latin typeface="Arial"/>
                <a:ea typeface="Arial"/>
                <a:cs typeface="Arial"/>
                <a:sym typeface="Arial"/>
              </a:rPr>
              <a:t>4. Correlation &amp; Covariance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144768" y="4727448"/>
            <a:ext cx="14630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B86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C8B86A"/>
                </a:solidFill>
                <a:latin typeface="Arial"/>
                <a:ea typeface="Arial"/>
                <a:cs typeface="Arial"/>
                <a:sym typeface="Arial"/>
              </a:rPr>
              <a:t>5. Chi-Square Tests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653528" y="4727448"/>
            <a:ext cx="14630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B86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C8B86A"/>
                </a:solidFill>
                <a:latin typeface="Arial"/>
                <a:ea typeface="Arial"/>
                <a:cs typeface="Arial"/>
                <a:sym typeface="Arial"/>
              </a:rPr>
              <a:t>6. Feature Engineering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STEP 1 — OVERVIEW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65760" y="4754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The Dataset at a Glance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1188720"/>
            <a:ext cx="1920240" cy="96012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5760" y="1234440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3,000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5760" y="17373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Total Customers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468880" y="1188720"/>
            <a:ext cx="1920240" cy="96012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468880" y="1234440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24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468880" y="17373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Total 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65760" y="2286000"/>
            <a:ext cx="1920240" cy="960120"/>
          </a:xfrm>
          <a:prstGeom prst="rect">
            <a:avLst/>
          </a:prstGeom>
          <a:solidFill>
            <a:srgbClr val="FFF3F0"/>
          </a:solidFill>
          <a:ln w="254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65760" y="2331720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36.2%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65760" y="28346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Churn Rate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468880" y="2286000"/>
            <a:ext cx="1920240" cy="96012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468880" y="2331720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63.8%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468880" y="28346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Retention Rate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65760" y="3383280"/>
            <a:ext cx="1920240" cy="96012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65760" y="3429000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15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65760" y="39319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Numeric 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468880" y="3383280"/>
            <a:ext cx="1920240" cy="96012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468880" y="3429000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468880" y="39319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Categorical 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0560" y="1051560"/>
            <a:ext cx="42976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FF3F0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434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868680" y="43891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Class imbalance detected (63.8% / 36.2%) → Accuracy alone is misleading. Primary metrics will be F1-Score and Recall.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KEY PRINCIPLE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EDA Before Cleaning — Why It Matters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65760" y="1234440"/>
            <a:ext cx="3931920" cy="3520440"/>
          </a:xfrm>
          <a:prstGeom prst="rect">
            <a:avLst/>
          </a:prstGeom>
          <a:solidFill>
            <a:srgbClr val="1C2E40"/>
          </a:solidFill>
          <a:ln w="1905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760" y="1234440"/>
            <a:ext cx="54864" cy="3520440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12064" y="132588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400"/>
              <a:buFont typeface="Georgia"/>
              <a:buNone/>
            </a:pPr>
            <a:r>
              <a:rPr lang="en-US" sz="1400" b="1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The Project Rule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12064" y="173736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Georgia"/>
              <a:buNone/>
            </a:pPr>
            <a:r>
              <a:rPr lang="en-US" sz="1100" i="1">
                <a:solidFill>
                  <a:srgbClr val="C8C8C8"/>
                </a:solidFill>
                <a:latin typeface="Georgia"/>
                <a:ea typeface="Georgia"/>
                <a:cs typeface="Georgia"/>
                <a:sym typeface="Georgia"/>
              </a:rPr>
              <a:t>"Do not immediately fill missing values,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Georgia"/>
              <a:buNone/>
            </a:pPr>
            <a:r>
              <a:rPr lang="en-US" sz="1100" i="1">
                <a:solidFill>
                  <a:srgbClr val="C8C8C8"/>
                </a:solidFill>
                <a:latin typeface="Georgia"/>
                <a:ea typeface="Georgia"/>
                <a:cs typeface="Georgia"/>
                <a:sym typeface="Georgia"/>
              </a:rPr>
              <a:t>remove outliers, or encode variables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Georgia"/>
              <a:buNone/>
            </a:pPr>
            <a:r>
              <a:rPr lang="en-US" sz="1100" i="1">
                <a:solidFill>
                  <a:srgbClr val="C8C8C8"/>
                </a:solidFill>
                <a:latin typeface="Georgia"/>
                <a:ea typeface="Georgia"/>
                <a:cs typeface="Georgia"/>
                <a:sym typeface="Georgia"/>
              </a:rPr>
              <a:t>without first analyzing them."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12064" y="2834640"/>
            <a:ext cx="3566160" cy="2743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52" y="29260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804672" y="290779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Cleaning without looking first destroys evidence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52" y="334670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804672" y="3328416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Outliers may be the most predictive values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52" y="37673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804672" y="37490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Missingness itself can carry a churn signal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52" y="418795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804672" y="416966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Chi-square &amp; correlation results guide what to drop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480560" y="1234440"/>
            <a:ext cx="4389120" cy="3520440"/>
          </a:xfrm>
          <a:prstGeom prst="rect">
            <a:avLst/>
          </a:prstGeom>
          <a:solidFill>
            <a:srgbClr val="1C2E40"/>
          </a:solidFill>
          <a:ln w="1905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480560" y="1234440"/>
            <a:ext cx="54864" cy="3520440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626864" y="132588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400"/>
              <a:buFont typeface="Georgia"/>
              <a:buNone/>
            </a:pPr>
            <a:r>
              <a:rPr lang="en-US" sz="1400" b="1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Our EDA Sequence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626864" y="1755648"/>
            <a:ext cx="329184" cy="32918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626864" y="17556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029200" y="1773936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Counted missing values per column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626864" y="2231136"/>
            <a:ext cx="329184" cy="32918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626864" y="223113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029200" y="224942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Compared churn rate: missing vs. present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626864" y="2706624"/>
            <a:ext cx="329184" cy="32918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626864" y="270662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029200" y="2724912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Plotted distributions — histograms &amp; boxplots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626864" y="3182112"/>
            <a:ext cx="329184" cy="32918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626864" y="31821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029200" y="3200400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Computed correlation &amp; covariance matrices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626864" y="3657600"/>
            <a:ext cx="329184" cy="32918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626864" y="36576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029200" y="3675888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 Chi-square tests on categorical features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626864" y="4133088"/>
            <a:ext cx="329184" cy="32918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626864" y="41330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Georgia"/>
              <a:buNone/>
            </a:pPr>
            <a:r>
              <a:rPr lang="en-US" sz="11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029200" y="4151376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Only then: designed imputation &amp; cleaning strategy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STEP 2 — MISSING VALUES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Missing Value Analysis — Feature by Feature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6"/>
          <p:cNvGraphicFramePr/>
          <p:nvPr/>
        </p:nvGraphicFramePr>
        <p:xfrm>
          <a:off x="365760" y="1115568"/>
          <a:ext cx="8412500" cy="3337640"/>
        </p:xfrm>
        <a:graphic>
          <a:graphicData uri="http://schemas.openxmlformats.org/drawingml/2006/table">
            <a:tbl>
              <a:tblPr>
                <a:noFill/>
                <a:tableStyleId>{9F130DDF-46BF-4BAB-ABC2-56BC110CC8FB}</a:tableStyleId>
              </a:tblPr>
              <a:tblGrid>
                <a:gridCol w="146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860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B8860B"/>
                          </a:solidFill>
                        </a:rPr>
                        <a:t>Feature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860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B8860B"/>
                          </a:solidFill>
                        </a:rPr>
                        <a:t>Missing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860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B8860B"/>
                          </a:solidFill>
                        </a:rPr>
                        <a:t>Skewness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860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B8860B"/>
                          </a:solidFill>
                        </a:rPr>
                        <a:t>MNAR?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860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B8860B"/>
                          </a:solidFill>
                        </a:rPr>
                        <a:t>Method V2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860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B8860B"/>
                          </a:solidFill>
                        </a:rPr>
                        <a:t>Reason + MAE improvement</a:t>
                      </a:r>
                      <a:endParaRPr sz="9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000000"/>
                          </a:solidFill>
                        </a:rPr>
                        <a:t>monthly_spend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000000"/>
                          </a:solidFill>
                        </a:rPr>
                        <a:t>92 (3.1%)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C0392B"/>
                          </a:solidFill>
                        </a:rPr>
                        <a:t>7.75 ↑↑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27AE60"/>
                          </a:solidFill>
                        </a:rPr>
                        <a:t>No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0D1B2A"/>
                          </a:solidFill>
                        </a:rPr>
                        <a:t>Group median</a:t>
                      </a:r>
                      <a:endParaRPr sz="85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0D1B2A"/>
                          </a:solidFill>
                        </a:rPr>
                        <a:t>(sub_type × region)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</a:rPr>
                        <a:t>Group medians: Basic=31, Standard=56, Premium=93. Global median (50) is wrong for Premium. MAE: 24.3→12.7 (−48%)</a:t>
                      </a:r>
                      <a:endParaRPr sz="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000000"/>
                          </a:solidFill>
                        </a:rPr>
                        <a:t>avg_session_minutes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000000"/>
                          </a:solidFill>
                        </a:rPr>
                        <a:t>123 (4.1%)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C0392B"/>
                          </a:solidFill>
                        </a:rPr>
                        <a:t>6.12 ↑↑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27AE60"/>
                          </a:solidFill>
                        </a:rPr>
                        <a:t>No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0D1B2A"/>
                          </a:solidFill>
                        </a:rPr>
                        <a:t>Formula-derived</a:t>
                      </a:r>
                      <a:endParaRPr sz="85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0D1B2A"/>
                          </a:solidFill>
                        </a:rPr>
                        <a:t>weekly_min ÷ sessions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</a:rPr>
                        <a:t>Mathematical definition of the feature. Corr=0.44 with actual values. MAE: 5.97→2.76 (−54%). Fallback: global median when sessions=0.</a:t>
                      </a:r>
                      <a:endParaRPr sz="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C0392B"/>
                          </a:solidFill>
                        </a:rPr>
                        <a:t>support_tickets_90d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000000"/>
                          </a:solidFill>
                        </a:rPr>
                        <a:t>60 (2.0%)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C0392B"/>
                          </a:solidFill>
                        </a:rPr>
                        <a:t>4.94 ↑↑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C0392B"/>
                          </a:solidFill>
                        </a:rPr>
                        <a:t>YES ⚠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C0392B"/>
                          </a:solidFill>
                        </a:rPr>
                        <a:t>Fill 0 + Flag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rgbClr val="C0392B"/>
                          </a:solidFill>
                        </a:rPr>
                        <a:t>MNAR: 43.3% churn when missing. Cannot fill randomly — missing = no ticket opened. Flag preserves the risk signal.</a:t>
                      </a:r>
                      <a:endParaRPr sz="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000000"/>
                          </a:solidFill>
                        </a:rPr>
                        <a:t>last_login_days_ago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000000"/>
                          </a:solidFill>
                        </a:rPr>
                        <a:t>70 (2.3%)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E67E22"/>
                          </a:solidFill>
                        </a:rPr>
                        <a:t>2.11 ↑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27AE60"/>
                          </a:solidFill>
                        </a:rPr>
                        <a:t>No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0D1B2A"/>
                          </a:solidFill>
                        </a:rPr>
                        <a:t>Group median</a:t>
                      </a:r>
                      <a:endParaRPr sz="85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0D1B2A"/>
                          </a:solidFill>
                        </a:rPr>
                        <a:t>(engagement bin)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</a:rPr>
                        <a:t>Corr(engagement, last_login)=−0.68. Low-eng bin=9.81d, med=5.34d, high=3.27d. MAE: 4.27→3.59 (−16%).</a:t>
                      </a:r>
                      <a:endParaRPr sz="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000000"/>
                          </a:solidFill>
                        </a:rPr>
                        <a:t>estimated_income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000000"/>
                          </a:solidFill>
                        </a:rPr>
                        <a:t>103 (3.4%)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27AE60"/>
                          </a:solidFill>
                        </a:rPr>
                        <a:t>0.16 ≈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27AE60"/>
                          </a:solidFill>
                        </a:rPr>
                        <a:t>No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0D1B2A"/>
                          </a:solidFill>
                        </a:rPr>
                        <a:t>Group median</a:t>
                      </a:r>
                      <a:endParaRPr sz="85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0D1B2A"/>
                          </a:solidFill>
                        </a:rPr>
                        <a:t>(region × sub_type)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</a:rPr>
                        <a:t>Income varies by geography and plan tier (52k–66k range). Group median is conceptually correct. MAE: 14,488→14,166.</a:t>
                      </a:r>
                      <a:endParaRPr sz="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C0392B"/>
                          </a:solidFill>
                        </a:rPr>
                        <a:t>engagement_score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000000"/>
                          </a:solidFill>
                        </a:rPr>
                        <a:t>279 (9.3%)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000000"/>
                          </a:solidFill>
                        </a:rPr>
                        <a:t>-0.53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C0392B"/>
                          </a:solidFill>
                        </a:rPr>
                        <a:t>YES ⚠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C0392B"/>
                          </a:solidFill>
                        </a:rPr>
                        <a:t>Regression (R²=0.13)</a:t>
                      </a:r>
                      <a:endParaRPr sz="85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C0392B"/>
                          </a:solidFill>
                        </a:rPr>
                        <a:t>+ Flag</a:t>
                      </a:r>
                      <a:endParaRPr sz="85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rgbClr val="C0392B"/>
                          </a:solidFill>
                        </a:rPr>
                        <a:t>MNAR: 40.9% churn when missing. Linear regression on usage features. MAE: 12.08→11.21. Flag mandatory regardless of fill method.</a:t>
                      </a:r>
                      <a:endParaRPr sz="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5A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0" name="Google Shape;120;p6"/>
          <p:cNvSpPr/>
          <p:nvPr/>
        </p:nvSpPr>
        <p:spPr>
          <a:xfrm>
            <a:off x="365760" y="4626864"/>
            <a:ext cx="8412480" cy="347472"/>
          </a:xfrm>
          <a:prstGeom prst="rect">
            <a:avLst/>
          </a:prstGeom>
          <a:solidFill>
            <a:srgbClr val="FFF3F0"/>
          </a:solidFill>
          <a:ln w="10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02920" y="464515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Arial"/>
              <a:buNone/>
            </a:pPr>
            <a:r>
              <a:rPr lang="en-US" sz="950" b="1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⚠  MNAR = Missing Not At Random — the fact that data is missing is itself a signal. We cannot impute these randomly; we must flag them.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STEP 3 — OUTLIERS &amp; DISTRIBUTIONS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Outlier Analysis — Retain or Remove?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7" descr="/home/claude/fig3_boxplot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1097280"/>
            <a:ext cx="466344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5120640" y="1115568"/>
            <a:ext cx="3703320" cy="804672"/>
          </a:xfrm>
          <a:prstGeom prst="rect">
            <a:avLst/>
          </a:prstGeom>
          <a:solidFill>
            <a:srgbClr val="FDF6E3"/>
          </a:solidFill>
          <a:ln w="1015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120640" y="1115568"/>
            <a:ext cx="54864" cy="804672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257800" y="115214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Arial"/>
              <a:buNone/>
            </a:pPr>
            <a:r>
              <a:rPr lang="en-US" sz="95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support_tickets_90d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589520" y="11521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225 outliers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257800" y="1444752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✓ Retain: Real angry customers — most informative data points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120640" y="2002536"/>
            <a:ext cx="3703320" cy="804672"/>
          </a:xfrm>
          <a:prstGeom prst="rect">
            <a:avLst/>
          </a:prstGeom>
          <a:solidFill>
            <a:srgbClr val="FDF6E3"/>
          </a:solidFill>
          <a:ln w="1015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120640" y="2002536"/>
            <a:ext cx="54864" cy="804672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257800" y="203911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Arial"/>
              <a:buNone/>
            </a:pPr>
            <a:r>
              <a:rPr lang="en-US" sz="95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spend_per_session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589520" y="203911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215 outliers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257800" y="2331720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✓ Retain: Genuine high-cost-per-session users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120640" y="2889504"/>
            <a:ext cx="3703320" cy="804672"/>
          </a:xfrm>
          <a:prstGeom prst="rect">
            <a:avLst/>
          </a:prstGeom>
          <a:solidFill>
            <a:srgbClr val="FDF6E3"/>
          </a:solidFill>
          <a:ln w="1015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120640" y="2889504"/>
            <a:ext cx="54864" cy="804672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257800" y="2926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Arial"/>
              <a:buNone/>
            </a:pPr>
            <a:r>
              <a:rPr lang="en-US" sz="95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last_login_days_ago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589520" y="292608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159 outliers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257800" y="3218688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✓ Retain: Inactive users = churn risk — must keep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120640" y="3776472"/>
            <a:ext cx="3703320" cy="804672"/>
          </a:xfrm>
          <a:prstGeom prst="rect">
            <a:avLst/>
          </a:prstGeom>
          <a:solidFill>
            <a:srgbClr val="FDF6E3"/>
          </a:solidFill>
          <a:ln w="1015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120640" y="3776472"/>
            <a:ext cx="54864" cy="804672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257800" y="381304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Arial"/>
              <a:buNone/>
            </a:pPr>
            <a:r>
              <a:rPr lang="en-US" sz="95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payment_delays_6m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589520" y="3813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101 outliers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257800" y="4105656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✓ Retain: Financial friction signal — remove = lose signal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20040" y="3858768"/>
            <a:ext cx="8503920" cy="1051560"/>
          </a:xfrm>
          <a:prstGeom prst="rect">
            <a:avLst/>
          </a:prstGeom>
          <a:solidFill>
            <a:srgbClr val="1C2E40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3931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WHY RETAIN ALL OUTLIERS?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2153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694944" y="419709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Synthetic dataset — extremes are intentional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3440" y="42153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4901184" y="419709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Tree models are naturally outlier-robust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4714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694944" y="445312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Outliers here = high-risk customers (the ones we want to predict)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3440" y="44714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4901184" y="445312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Removing them = discarding our strongest signals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STEP 4 — STATISTICAL ANALYSIS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Correlation · Covariance · Chi-Square Tests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1097280"/>
            <a:ext cx="411480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4572000" y="1097280"/>
            <a:ext cx="4251960" cy="233172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663440" y="11612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Georgia"/>
              <a:buNone/>
            </a:pPr>
            <a:r>
              <a:rPr lang="en-US" sz="105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Chi-Square Tests — Categorical vs. Churn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663440" y="1508760"/>
            <a:ext cx="9144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623560" y="1508760"/>
            <a:ext cx="9144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χ²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583680" y="1508760"/>
            <a:ext cx="9144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p-value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543800" y="1508760"/>
            <a:ext cx="9144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663440" y="1783080"/>
            <a:ext cx="987552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contract_type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669280" y="1783080"/>
            <a:ext cx="91440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170.21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629400" y="1783080"/>
            <a:ext cx="86868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&lt;0.001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589520" y="1783080"/>
            <a:ext cx="86868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SIG ✓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663440" y="2002536"/>
            <a:ext cx="987552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auto_renew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669280" y="2002536"/>
            <a:ext cx="914400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36.14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629400" y="2002536"/>
            <a:ext cx="868680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&lt;0.001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589520" y="2002536"/>
            <a:ext cx="868680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SIG ✓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663440" y="2221992"/>
            <a:ext cx="987552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region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669280" y="2221992"/>
            <a:ext cx="91440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15.53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629400" y="2221992"/>
            <a:ext cx="86868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0.004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589520" y="2221992"/>
            <a:ext cx="86868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SIG ✓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663440" y="2441448"/>
            <a:ext cx="987552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promo_opt_in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669280" y="2441448"/>
            <a:ext cx="914400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629400" y="2441448"/>
            <a:ext cx="868680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0.143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589520" y="2441448"/>
            <a:ext cx="868680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663440" y="2660904"/>
            <a:ext cx="987552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payment_method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669280" y="2660904"/>
            <a:ext cx="91440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1.83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629400" y="2660904"/>
            <a:ext cx="86868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0.400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589520" y="2660904"/>
            <a:ext cx="86868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663440" y="2880360"/>
            <a:ext cx="987552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subscription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669280" y="2880360"/>
            <a:ext cx="914400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0.98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629400" y="2880360"/>
            <a:ext cx="868680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0.611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589520" y="2880360"/>
            <a:ext cx="868680" cy="210312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663440" y="3099816"/>
            <a:ext cx="987552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device_type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669280" y="3099816"/>
            <a:ext cx="91440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0.30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629400" y="3099816"/>
            <a:ext cx="86868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0.861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589520" y="3099816"/>
            <a:ext cx="868680" cy="21031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20040" y="3566160"/>
            <a:ext cx="8503920" cy="1298448"/>
          </a:xfrm>
          <a:prstGeom prst="rect">
            <a:avLst/>
          </a:prstGeom>
          <a:solidFill>
            <a:srgbClr val="0D1B2A"/>
          </a:solidFill>
          <a:ln w="15225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20040" y="3566160"/>
            <a:ext cx="54864" cy="1298448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02920" y="36301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KEY FINDING — Covariance Matrix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57200" y="39319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last_login ↔ engagement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57200" y="4160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Georgia"/>
              <a:buNone/>
            </a:pPr>
            <a:r>
              <a:rPr lang="en-US" sz="95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Cov = −58.93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437083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Strongest joint relationship: inactive users are disengaged. Both features point to churn from opposite directions.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273552" y="39319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engagement_score ↔ churn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273552" y="4160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Georgia"/>
              <a:buNone/>
            </a:pPr>
            <a:r>
              <a:rPr lang="en-US" sz="95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Cov = −1.16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273552" y="437083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Negative: lower engagement → higher churn probability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089904" y="39319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last_login_days_ago ↔ churn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089904" y="4160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Georgia"/>
              <a:buNone/>
            </a:pPr>
            <a:r>
              <a:rPr lang="en-US" sz="95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Cov = +0.54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089904" y="437083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Positive: longer absence → higher churn probability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STEP 5 — FEATURE ENGINEERING V2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 Engineered Features — Ranked by Signal Strength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320040" y="1188720"/>
            <a:ext cx="8229600" cy="23774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84048" y="11887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1. disengagement_index  +0.133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20040" y="1481328"/>
            <a:ext cx="2926080" cy="237744"/>
          </a:xfrm>
          <a:prstGeom prst="rect">
            <a:avLst/>
          </a:prstGeom>
          <a:solidFill>
            <a:srgbClr val="8A7A30"/>
          </a:solidFill>
          <a:ln w="12700" cap="flat" cmpd="sng">
            <a:solidFill>
              <a:srgbClr val="8A7A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84048" y="1481328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2. spending_efficiency  +0.047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20040" y="1773936"/>
            <a:ext cx="1188720" cy="237744"/>
          </a:xfrm>
          <a:prstGeom prst="rect">
            <a:avLst/>
          </a:prstGeom>
          <a:solidFill>
            <a:srgbClr val="5C5230"/>
          </a:solidFill>
          <a:ln w="12700" cap="flat" cmpd="sng">
            <a:solidFill>
              <a:srgbClr val="5C52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84048" y="1773936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3. risk_score  +0.018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20040" y="115214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Correlation with churn →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20040" y="2121408"/>
            <a:ext cx="4251960" cy="2724912"/>
          </a:xfrm>
          <a:prstGeom prst="rect">
            <a:avLst/>
          </a:prstGeom>
          <a:solidFill>
            <a:srgbClr val="1C2E40"/>
          </a:solidFill>
          <a:ln w="1905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20040" y="2121408"/>
            <a:ext cx="54864" cy="272491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02920" y="21762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50"/>
              <a:buFont typeface="Arial"/>
              <a:buNone/>
            </a:pPr>
            <a:r>
              <a:rPr lang="en-US" sz="95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1st · Disengagement Index  (+0.133)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02920" y="24505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Disengagement Index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02920" y="2852928"/>
            <a:ext cx="3840480" cy="347472"/>
          </a:xfrm>
          <a:prstGeom prst="rect">
            <a:avLst/>
          </a:prstGeom>
          <a:solidFill>
            <a:srgbClr val="0A1520"/>
          </a:solidFill>
          <a:ln w="1015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02920" y="28529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850"/>
              <a:buFont typeface="Courier New"/>
              <a:buNone/>
            </a:pPr>
            <a:r>
              <a:rPr lang="en-US" sz="850" b="1">
                <a:solidFill>
                  <a:srgbClr val="B8860B"/>
                </a:solidFill>
                <a:latin typeface="Courier New"/>
                <a:ea typeface="Courier New"/>
                <a:cs typeface="Courier New"/>
                <a:sym typeface="Courier New"/>
              </a:rPr>
              <a:t>last_login ÷ (engagement_score + 1)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327355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731520" y="3255264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0D0D0"/>
                </a:solidFill>
                <a:latin typeface="Arial"/>
                <a:ea typeface="Arial"/>
                <a:cs typeface="Arial"/>
                <a:sym typeface="Arial"/>
              </a:rPr>
              <a:t>top 2 numeric correlates (+0.18 &amp; −0.17)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36210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>
            <a:off x="731520" y="3602736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0D0D0"/>
                </a:solidFill>
                <a:latin typeface="Arial"/>
                <a:ea typeface="Arial"/>
                <a:cs typeface="Arial"/>
                <a:sym typeface="Arial"/>
              </a:rPr>
              <a:t>covariance = −58.93 — they oppose each other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396849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/>
          <p:nvPr/>
        </p:nvSpPr>
        <p:spPr>
          <a:xfrm>
            <a:off x="731520" y="3950208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0D0D0"/>
                </a:solidFill>
                <a:latin typeface="Arial"/>
                <a:ea typeface="Arial"/>
                <a:cs typeface="Arial"/>
                <a:sym typeface="Arial"/>
              </a:rPr>
              <a:t>ratio captures compound behavioral risk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43159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/>
          <p:nvPr/>
        </p:nvSpPr>
        <p:spPr>
          <a:xfrm>
            <a:off x="731520" y="4297680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0D0D0"/>
                </a:solidFill>
                <a:latin typeface="Arial"/>
                <a:ea typeface="Arial"/>
                <a:cs typeface="Arial"/>
                <a:sym typeface="Arial"/>
              </a:rPr>
              <a:t>+1 prevents division by zero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709160" y="2121408"/>
            <a:ext cx="4114800" cy="1261872"/>
          </a:xfrm>
          <a:prstGeom prst="rect">
            <a:avLst/>
          </a:prstGeom>
          <a:solidFill>
            <a:srgbClr val="1C2E40"/>
          </a:solidFill>
          <a:ln w="15225" cap="flat" cmpd="sng">
            <a:solidFill>
              <a:srgbClr val="8A7A3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709160" y="2121408"/>
            <a:ext cx="54864" cy="126187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864608" y="217627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B86A"/>
              </a:buClr>
              <a:buSzPts val="950"/>
              <a:buFont typeface="Arial"/>
              <a:buNone/>
            </a:pPr>
            <a:r>
              <a:rPr lang="en-US" sz="950" b="1">
                <a:solidFill>
                  <a:srgbClr val="C8B86A"/>
                </a:solidFill>
                <a:latin typeface="Arial"/>
                <a:ea typeface="Arial"/>
                <a:cs typeface="Arial"/>
                <a:sym typeface="Arial"/>
              </a:rPr>
              <a:t>2nd · Spending Efficiency  (+0.047)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864608" y="2487168"/>
            <a:ext cx="3703320" cy="310896"/>
          </a:xfrm>
          <a:prstGeom prst="rect">
            <a:avLst/>
          </a:prstGeom>
          <a:solidFill>
            <a:srgbClr val="0A1520"/>
          </a:solidFill>
          <a:ln w="10150" cap="flat" cmpd="sng">
            <a:solidFill>
              <a:srgbClr val="8A7A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864608" y="248716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B86A"/>
              </a:buClr>
              <a:buSzPts val="850"/>
              <a:buFont typeface="Courier New"/>
              <a:buNone/>
            </a:pPr>
            <a:r>
              <a:rPr lang="en-US" sz="850" b="1">
                <a:solidFill>
                  <a:srgbClr val="C8B86A"/>
                </a:solidFill>
                <a:latin typeface="Courier New"/>
                <a:ea typeface="Courier New"/>
                <a:cs typeface="Courier New"/>
                <a:sym typeface="Courier New"/>
              </a:rPr>
              <a:t>monthly_spend ÷ weekly_minutes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864608" y="2834640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A0A0A0"/>
                </a:solidFill>
                <a:latin typeface="Arial"/>
                <a:ea typeface="Arial"/>
                <a:cs typeface="Arial"/>
                <a:sym typeface="Arial"/>
              </a:rPr>
              <a:t>Captures value perception. Overpaying users churning more than cost-effective users → unique signal angle.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709160" y="3493008"/>
            <a:ext cx="4114800" cy="1353312"/>
          </a:xfrm>
          <a:prstGeom prst="rect">
            <a:avLst/>
          </a:prstGeom>
          <a:solidFill>
            <a:srgbClr val="1C2E40"/>
          </a:solidFill>
          <a:ln w="12700" cap="flat" cmpd="sng">
            <a:solidFill>
              <a:srgbClr val="5C523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709160" y="3493008"/>
            <a:ext cx="54864" cy="135331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864608" y="354787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60"/>
              </a:buClr>
              <a:buSzPts val="950"/>
              <a:buFont typeface="Arial"/>
              <a:buNone/>
            </a:pPr>
            <a:r>
              <a:rPr lang="en-US" sz="950" b="1">
                <a:solidFill>
                  <a:srgbClr val="8A8A60"/>
                </a:solidFill>
                <a:latin typeface="Arial"/>
                <a:ea typeface="Arial"/>
                <a:cs typeface="Arial"/>
                <a:sym typeface="Arial"/>
              </a:rPr>
              <a:t>3rd · Risk Score  (+0.018 — supplementary)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864608" y="3858768"/>
            <a:ext cx="3703320" cy="310896"/>
          </a:xfrm>
          <a:prstGeom prst="rect">
            <a:avLst/>
          </a:prstGeom>
          <a:solidFill>
            <a:srgbClr val="0A1520"/>
          </a:solidFill>
          <a:ln w="10150" cap="flat" cmpd="sng">
            <a:solidFill>
              <a:srgbClr val="5C52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864608" y="385876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60"/>
              </a:buClr>
              <a:buSzPts val="850"/>
              <a:buFont typeface="Courier New"/>
              <a:buNone/>
            </a:pPr>
            <a:r>
              <a:rPr lang="en-US" sz="850" b="1">
                <a:solidFill>
                  <a:srgbClr val="8A8A60"/>
                </a:solidFill>
                <a:latin typeface="Courier New"/>
                <a:ea typeface="Courier New"/>
                <a:cs typeface="Courier New"/>
                <a:sym typeface="Courier New"/>
              </a:rPr>
              <a:t>payment_delays_6m × support_tickets_90d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864608" y="4206240"/>
            <a:ext cx="3703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Multiplicative interaction: dual friction (financial + service) &gt; sum of parts. Natural sparsity when either = 0.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20040" y="4919472"/>
            <a:ext cx="8503920" cy="182880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57200" y="4919472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+ 2 MNAR flag columns: tickets_missing_flag &amp; engagement_missing_flag — preserve missingness as a predictive signal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65760" y="1371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SUMMARY — V2 FINAL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Key Findings → Ready for Phase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20040" y="1170432"/>
            <a:ext cx="2697480" cy="1664208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320040" y="1170432"/>
            <a:ext cx="2697480" cy="5486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768" y="12984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0"/>
          <p:cNvSpPr/>
          <p:nvPr/>
        </p:nvSpPr>
        <p:spPr>
          <a:xfrm>
            <a:off x="822960" y="129844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Georgia"/>
              <a:buNone/>
            </a:pPr>
            <a:r>
              <a:rPr lang="en-US" sz="10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Strongest Numeric Predictors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29768" y="1700784"/>
            <a:ext cx="2487168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last_login_days_ago (+0.18) &amp; engagement_score (−0.17). No single feature dominates → ensemble model needed.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3154680" y="1170432"/>
            <a:ext cx="2697480" cy="1664208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3154680" y="1170432"/>
            <a:ext cx="2697480" cy="5486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4408" y="12984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3657600" y="129844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Georgia"/>
              <a:buNone/>
            </a:pPr>
            <a:r>
              <a:rPr lang="en-US" sz="10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Categorical: 3 Significant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3264408" y="1700784"/>
            <a:ext cx="2487168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contract_type (χ²=170) and auto_renew (χ²=36) are the strongest. subscription_type &amp; device_type are NOT significant.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989320" y="1170432"/>
            <a:ext cx="2697480" cy="1664208"/>
          </a:xfrm>
          <a:prstGeom prst="rect">
            <a:avLst/>
          </a:prstGeom>
          <a:solidFill>
            <a:srgbClr val="FDF6E3"/>
          </a:solidFill>
          <a:ln w="228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989320" y="1170432"/>
            <a:ext cx="2697480" cy="54864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9048" y="12984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/>
          <p:nvPr/>
        </p:nvSpPr>
        <p:spPr>
          <a:xfrm>
            <a:off x="6492240" y="129844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Georgia"/>
              <a:buNone/>
            </a:pPr>
            <a:r>
              <a:rPr lang="en-US" sz="1000" b="1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2 MNAR Features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099048" y="1700784"/>
            <a:ext cx="2487168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engagement_score &amp; support_tickets_90d. Regression + group median used. Flag columns mandatory to preserve risk signal.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20040" y="2999232"/>
            <a:ext cx="2697480" cy="1664208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20040" y="2999232"/>
            <a:ext cx="2697480" cy="5486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9768" y="31272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0"/>
          <p:cNvSpPr/>
          <p:nvPr/>
        </p:nvSpPr>
        <p:spPr>
          <a:xfrm>
            <a:off x="822960" y="312724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Georgia"/>
              <a:buNone/>
            </a:pPr>
            <a:r>
              <a:rPr lang="en-US" sz="10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All Outliers Retained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29768" y="3529584"/>
            <a:ext cx="2487168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All extreme values are real high-risk behaviors. Tree-based models handle them naturally — no removal needed.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154680" y="2999232"/>
            <a:ext cx="2697480" cy="1664208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3154680" y="2999232"/>
            <a:ext cx="2697480" cy="5486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64408" y="31272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0"/>
          <p:cNvSpPr/>
          <p:nvPr/>
        </p:nvSpPr>
        <p:spPr>
          <a:xfrm>
            <a:off x="3657600" y="312724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Georgia"/>
              <a:buNone/>
            </a:pPr>
            <a:r>
              <a:rPr lang="en-US" sz="10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5 New Features (V2)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3264408" y="3529584"/>
            <a:ext cx="2487168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disengagement_index (+0.133), spending_efficiency (+0.047), risk_score (+0.018) + 2 MNAR flags. All EDA-grounded.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989320" y="2999232"/>
            <a:ext cx="2697480" cy="1664208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5989320" y="2999232"/>
            <a:ext cx="2697480" cy="54864"/>
          </a:xfrm>
          <a:prstGeom prst="rect">
            <a:avLst/>
          </a:prstGeom>
          <a:solidFill>
            <a:srgbClr val="B8860B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48" y="31272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6492240" y="312724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Georgia"/>
              <a:buNone/>
            </a:pPr>
            <a:r>
              <a:rPr lang="en-US" sz="10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Ready for Phase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099048" y="3529584"/>
            <a:ext cx="2487168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Dataset: 3,000 rows × 29 columns. V2 imputation improved MAE 16–54%. Primary metrics: F1-Score &amp; Recall.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PHASE 2 — ALGORITHM SELECTION</a:t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365760" y="475488"/>
            <a:ext cx="8412480" cy="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Phase 2 Overview</a:t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365760" y="1188720"/>
            <a:ext cx="1920240" cy="96012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65760" y="1234440"/>
            <a:ext cx="1920240" cy="528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65760" y="1764792"/>
            <a:ext cx="1920240" cy="36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Models Tested</a:t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2468880" y="1188720"/>
            <a:ext cx="1920240" cy="96012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2468880" y="1234440"/>
            <a:ext cx="1920240" cy="528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Same</a:t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2468880" y="1764792"/>
            <a:ext cx="1920240" cy="36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Pipeline for All</a:t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4572000" y="1188720"/>
            <a:ext cx="1920240" cy="96012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572000" y="1234440"/>
            <a:ext cx="1920240" cy="528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Goal</a:t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4572000" y="1764792"/>
            <a:ext cx="1920240" cy="36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Compare → Best</a:t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6675120" y="1188720"/>
            <a:ext cx="2103120" cy="96012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675120" y="1234440"/>
            <a:ext cx="2103120" cy="528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63/36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675120" y="1764792"/>
            <a:ext cx="2103120" cy="36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Imbalanced Dataset</a:t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365760" y="2378520"/>
            <a:ext cx="8412480" cy="17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57200" y="2469960"/>
            <a:ext cx="8229600" cy="151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Pipeline: </a:t>
            </a:r>
            <a:r>
              <a:rPr lang="en-US" sz="120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Scaling + One-Hot Encoding + Stratified Split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Models: </a:t>
            </a:r>
            <a:r>
              <a:rPr lang="en-US" sz="120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Logistic Regression  ·  Random Forest  ·  Gradient Boosting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Key Constraint: </a:t>
            </a:r>
            <a:r>
              <a:rPr lang="en-US" sz="120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Dataset imbalance → Accuracy is misleading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Primary Metrics: </a:t>
            </a:r>
            <a:r>
              <a:rPr lang="en-US" sz="120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Recall &amp; F1-score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MODEL TYPES &amp; PURPOSE</a:t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365760" y="475488"/>
            <a:ext cx="8412480" cy="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Models Compared</a:t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365760" y="1100000"/>
            <a:ext cx="2560000" cy="110000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65760" y="1145720"/>
            <a:ext cx="2560000" cy="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Logistic Regression</a:t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365760" y="1760000"/>
            <a:ext cx="2560000" cy="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365760" y="2250000"/>
            <a:ext cx="256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Simple · Interpretable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3068880" y="1100000"/>
            <a:ext cx="2560000" cy="110000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3068880" y="1145720"/>
            <a:ext cx="2560000" cy="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3068880" y="1760000"/>
            <a:ext cx="2560000" cy="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Ensemble (Bagging)</a:t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3068880" y="2250000"/>
            <a:ext cx="256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Handles non-linearity</a:t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5772000" y="1100000"/>
            <a:ext cx="2560000" cy="110000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772000" y="1145720"/>
            <a:ext cx="2560000" cy="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Gradient Boosting</a:t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5772000" y="1760000"/>
            <a:ext cx="2560000" cy="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Ensemble (Boosting)</a:t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5772000" y="2250000"/>
            <a:ext cx="256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Learns from errors</a:t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365760" y="3000000"/>
            <a:ext cx="8412480" cy="9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457200" y="3091440"/>
            <a:ext cx="8229600" cy="71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4E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Different model types → fair comparison of linear vs non-linear behavior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MODEL EVALUATION RESULTS</a:t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365760" y="475488"/>
            <a:ext cx="8412480" cy="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Model Evaluation Results</a:t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365760" y="1100000"/>
            <a:ext cx="8412480" cy="38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57200" y="1191440"/>
            <a:ext cx="8229600" cy="19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Model                       Accuracy       Recall (Churn)      F1-score</a:t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365760" y="1510000"/>
            <a:ext cx="8412480" cy="46000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548640" y="1560000"/>
            <a:ext cx="804672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Logistic Regression                    0.67                0.35                    0.43</a:t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365760" y="2010000"/>
            <a:ext cx="8412480" cy="460000"/>
          </a:xfrm>
          <a:prstGeom prst="rect">
            <a:avLst/>
          </a:prstGeom>
          <a:solidFill>
            <a:srgbClr val="F8F4EC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48640" y="2060000"/>
            <a:ext cx="804672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Random Forest                             0.67                0.29                    0.39</a:t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365760" y="2510000"/>
            <a:ext cx="8412480" cy="46000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48640" y="2560000"/>
            <a:ext cx="804672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Gradient Boosting                       0.65                0.32                    0.40</a:t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365760" y="3010000"/>
            <a:ext cx="8412480" cy="7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457200" y="3101440"/>
            <a:ext cx="8229600" cy="51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Best Model: </a:t>
            </a:r>
            <a:r>
              <a:rPr lang="en-US" sz="130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Logistic Regression   →   Highest Recall (0.35) &amp; F1-score (0.43)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EVALUATION INSIGHT</a:t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365760" y="475488"/>
            <a:ext cx="8412480" cy="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Evaluation Insight</a:t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365760" y="1100000"/>
            <a:ext cx="4000000" cy="110000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365760" y="1145720"/>
            <a:ext cx="4000000" cy="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~64%</a:t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365760" y="1760000"/>
            <a:ext cx="4000000" cy="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Accuracy if all predicted Retained</a:t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4560000" y="1100000"/>
            <a:ext cx="4218240" cy="110000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560000" y="1145720"/>
            <a:ext cx="4218240" cy="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Recall</a:t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4560000" y="1760000"/>
            <a:ext cx="4218240" cy="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The metric that matters</a:t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365760" y="2350000"/>
            <a:ext cx="8412480" cy="16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457200" y="2441440"/>
            <a:ext cx="8229600" cy="141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⚠ Accuracy is NOT reliable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4E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A model that predicts all customers as Retained is still ~64% accurate.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✔ Recall is Critical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4E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Recall measures the model's ability to detect actual churn customers.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Result: </a:t>
            </a:r>
            <a:r>
              <a:rPr lang="en-US" sz="120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Logistic Regression detects more churn customers than other models.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FINAL MODEL SELECTION</a:t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365760" y="475488"/>
            <a:ext cx="8412480" cy="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Final Model Selection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365760" y="1100000"/>
            <a:ext cx="8412480" cy="900000"/>
          </a:xfrm>
          <a:prstGeom prst="rect">
            <a:avLst/>
          </a:prstGeom>
          <a:solidFill>
            <a:srgbClr val="FDF6E3"/>
          </a:solidFill>
          <a:ln w="12700" cap="flat" cmpd="sng">
            <a:solidFill>
              <a:srgbClr val="B886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365760" y="1145720"/>
            <a:ext cx="84124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Logistic Regression</a:t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365760" y="1640000"/>
            <a:ext cx="841248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Selected Model</a:t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365760" y="2150000"/>
            <a:ext cx="8412480" cy="19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457200" y="2241440"/>
            <a:ext cx="8229600" cy="171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Why Logistic Regression?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4E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✔  Highest Recall (0.35)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4E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✔  Highest F1-score (0.43)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4E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✔  More balanced predictions across classes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4E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Simple model outperformed complex models on this dataset.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365760" y="137160"/>
            <a:ext cx="240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TRADE-OFF ANALYSIS</a:t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365760" y="475488"/>
            <a:ext cx="8412480" cy="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Trade-off Analysis</a:t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365760" y="1100000"/>
            <a:ext cx="3900000" cy="28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548640" y="1191440"/>
            <a:ext cx="3534240" cy="261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Logistic Regression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CAF50"/>
                </a:solidFill>
                <a:latin typeface="Arial"/>
                <a:ea typeface="Arial"/>
                <a:cs typeface="Arial"/>
                <a:sym typeface="Arial"/>
              </a:rPr>
              <a:t>✔  Interpretable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CAF50"/>
                </a:solidFill>
                <a:latin typeface="Arial"/>
                <a:ea typeface="Arial"/>
                <a:cs typeface="Arial"/>
                <a:sym typeface="Arial"/>
              </a:rPr>
              <a:t>✔  Better Recall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✘  Limited non-linear modeling</a:t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4478880" y="1100000"/>
            <a:ext cx="4299360" cy="2800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4662760" y="1191440"/>
            <a:ext cx="3933600" cy="261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4EC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F8F4EC"/>
                </a:solidFill>
                <a:latin typeface="Georgia"/>
                <a:ea typeface="Georgia"/>
                <a:cs typeface="Georgia"/>
                <a:sym typeface="Georgia"/>
              </a:rPr>
              <a:t>Random Forest / Gradient Boosting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CAF50"/>
                </a:solidFill>
                <a:latin typeface="Arial"/>
                <a:ea typeface="Arial"/>
                <a:cs typeface="Arial"/>
                <a:sym typeface="Arial"/>
              </a:rPr>
              <a:t>✔  Capture complex patterns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✘  Lower Recall in this case</a:t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365760" y="4060000"/>
            <a:ext cx="8412480" cy="7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457200" y="4151440"/>
            <a:ext cx="8229600" cy="51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Decision: </a:t>
            </a:r>
            <a:r>
              <a:rPr lang="en-US" sz="1400">
                <a:solidFill>
                  <a:srgbClr val="F8F4EC"/>
                </a:solidFill>
                <a:latin typeface="Arial"/>
                <a:ea typeface="Arial"/>
                <a:cs typeface="Arial"/>
                <a:sym typeface="Arial"/>
              </a:rPr>
              <a:t>Performance &gt; Complexity  →  Logistic Regression selected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7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solidFill>
            <a:srgbClr val="E8A400"/>
          </a:solidFill>
          <a:ln w="12700" cap="flat" cmpd="sng">
            <a:solidFill>
              <a:srgbClr val="E8A4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7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PHASE 3 — HYPERPARAMETER TUNING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Overview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320040" y="1188720"/>
            <a:ext cx="1965960" cy="118872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320040" y="123444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320040" y="17830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Tuned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2514600" y="1188720"/>
            <a:ext cx="1965960" cy="118872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2514600" y="123444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LR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2514600" y="17830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Chosen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4709160" y="1188720"/>
            <a:ext cx="1965960" cy="118872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4709160" y="123444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+37%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4709160" y="17830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Improved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6903720" y="1188720"/>
            <a:ext cx="1965960" cy="118872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7"/>
          <p:cNvSpPr/>
          <p:nvPr/>
        </p:nvSpPr>
        <p:spPr>
          <a:xfrm>
            <a:off x="6903720" y="123444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0.700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6903720" y="17830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320040" y="251460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What Phase 3 Covers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320040" y="2834640"/>
            <a:ext cx="1609344" cy="365760"/>
          </a:xfrm>
          <a:prstGeom prst="rect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1965960" y="2834640"/>
            <a:ext cx="2340864" cy="365760"/>
          </a:xfrm>
          <a:prstGeom prst="rect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Values Tested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4343400" y="2834640"/>
            <a:ext cx="3163824" cy="365760"/>
          </a:xfrm>
          <a:prstGeom prst="rect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7543800" y="2834640"/>
            <a:ext cx="1152144" cy="365760"/>
          </a:xfrm>
          <a:prstGeom prst="rect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Chosen Value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320040" y="3236976"/>
            <a:ext cx="1609344" cy="365760"/>
          </a:xfrm>
          <a:prstGeom prst="rect">
            <a:avLst/>
          </a:prstGeom>
          <a:solidFill>
            <a:srgbClr val="232D5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 (regularization)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1965960" y="3236976"/>
            <a:ext cx="2340864" cy="365760"/>
          </a:xfrm>
          <a:prstGeom prst="rect">
            <a:avLst/>
          </a:prstGeom>
          <a:solidFill>
            <a:srgbClr val="232D5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0.001 → 100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4343400" y="3236976"/>
            <a:ext cx="3163824" cy="365760"/>
          </a:xfrm>
          <a:prstGeom prst="rect">
            <a:avLst/>
          </a:prstGeom>
          <a:solidFill>
            <a:srgbClr val="232D5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Underfitting at C&lt;0.05; plateau at C≥0.5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7543800" y="3236976"/>
            <a:ext cx="1152144" cy="365760"/>
          </a:xfrm>
          <a:prstGeom prst="rect">
            <a:avLst/>
          </a:prstGeom>
          <a:solidFill>
            <a:srgbClr val="232D5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 = 1.0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320040" y="3639312"/>
            <a:ext cx="1609344" cy="36576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class_weight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1965960" y="3639312"/>
            <a:ext cx="2340864" cy="36576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None / balanced / 1:2 / 1:3 / 1:4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4343400" y="3639312"/>
            <a:ext cx="3163824" cy="36576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Most impactful param: Recall jumps +37%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7543800" y="3639312"/>
            <a:ext cx="1152144" cy="36576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320040" y="4041648"/>
            <a:ext cx="1609344" cy="365760"/>
          </a:xfrm>
          <a:prstGeom prst="rect">
            <a:avLst/>
          </a:prstGeom>
          <a:solidFill>
            <a:srgbClr val="232D5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penalty (L1/L2/EN)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1965960" y="4041648"/>
            <a:ext cx="2340864" cy="365760"/>
          </a:xfrm>
          <a:prstGeom prst="rect">
            <a:avLst/>
          </a:prstGeom>
          <a:solidFill>
            <a:srgbClr val="232D5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penalty types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4343400" y="4041648"/>
            <a:ext cx="3163824" cy="365760"/>
          </a:xfrm>
          <a:prstGeom prst="rect">
            <a:avLst/>
          </a:prstGeom>
          <a:solidFill>
            <a:srgbClr val="232D5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converge similarly; L2 marginally best AUC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7543800" y="4041648"/>
            <a:ext cx="1152144" cy="365760"/>
          </a:xfrm>
          <a:prstGeom prst="rect">
            <a:avLst/>
          </a:prstGeom>
          <a:solidFill>
            <a:srgbClr val="232D5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320040" y="4443984"/>
            <a:ext cx="1609344" cy="36576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solver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1965960" y="4443984"/>
            <a:ext cx="2340864" cy="36576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lbfgs / liblinear / saga / newton-cg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4343400" y="4443984"/>
            <a:ext cx="3163824" cy="36576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All produce identical results on this data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7543800" y="4443984"/>
            <a:ext cx="1152144" cy="36576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lbfgs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solidFill>
            <a:srgbClr val="E8A400"/>
          </a:solidFill>
          <a:ln w="12700" cap="flat" cmpd="sng">
            <a:solidFill>
              <a:srgbClr val="E8A4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EXPERIMENT 1 — REGULARIZATION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320040" y="475488"/>
            <a:ext cx="8503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 Parameter</a:t>
            </a:r>
            <a:endParaRPr sz="2400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2880345" y="978310"/>
            <a:ext cx="3063300" cy="100590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2880345" y="978310"/>
            <a:ext cx="63900" cy="1005900"/>
          </a:xfrm>
          <a:prstGeom prst="rect">
            <a:avLst/>
          </a:prstGeom>
          <a:solidFill>
            <a:srgbClr val="E05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3017505" y="1024030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505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05050"/>
                </a:solidFill>
                <a:latin typeface="Calibri"/>
                <a:ea typeface="Calibri"/>
                <a:cs typeface="Calibri"/>
                <a:sym typeface="Calibri"/>
              </a:rPr>
              <a:t>⚠  Underfitting Zone (C &lt; 0.05)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3017505" y="1298350"/>
            <a:ext cx="2834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Recall collapses to 0.07 at C=0.001. The model is over-regularized — it predicts almost everyone as Non-Churner.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2880345" y="2075590"/>
            <a:ext cx="3063300" cy="100590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8"/>
          <p:cNvSpPr/>
          <p:nvPr/>
        </p:nvSpPr>
        <p:spPr>
          <a:xfrm>
            <a:off x="2880345" y="2075590"/>
            <a:ext cx="63900" cy="100590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3017505" y="2121310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AF7D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4CAF7D"/>
                </a:solidFill>
                <a:latin typeface="Calibri"/>
                <a:ea typeface="Calibri"/>
                <a:cs typeface="Calibri"/>
                <a:sym typeface="Calibri"/>
              </a:rPr>
              <a:t>✓  Sweet Spot (C = 0.5–1.0)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3017505" y="2395630"/>
            <a:ext cx="2834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Recall stabilizes at 0.346, F1 at 0.43. Going higher adds no benefit — model has converged.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2880345" y="3172870"/>
            <a:ext cx="3063300" cy="100590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2880345" y="3172870"/>
            <a:ext cx="63900" cy="1005900"/>
          </a:xfrm>
          <a:prstGeom prst="rect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3017505" y="3218590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→  Diminishing Returns (C &gt; 1)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3017505" y="3492910"/>
            <a:ext cx="2834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No change in any metric beyond C=1. This is a classic sign that the decision boundary is already well-fit.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320040" y="4343400"/>
            <a:ext cx="8503920" cy="27432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Chosen: C = 1.0  (stable, no overfitting, max performance)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solidFill>
            <a:srgbClr val="E8A400"/>
          </a:solidFill>
          <a:ln w="12700" cap="flat" cmpd="sng">
            <a:solidFill>
              <a:srgbClr val="E8A4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9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EXPERIMENT 2 — CLASS WEIGHT (MOST IMPACTFUL)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class_weight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Parameter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2758145" y="978410"/>
            <a:ext cx="3063300" cy="320040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2895305" y="1069850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Why class_weight Matters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2895305" y="1371602"/>
            <a:ext cx="2834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The dataset is imbalanced (63.8% No-Churn vs 36.2% Churn). Without correction, the model is biased toward predicting the majority class.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2895305" y="2075690"/>
            <a:ext cx="2743200" cy="567000"/>
          </a:xfrm>
          <a:prstGeom prst="rect">
            <a:avLst/>
          </a:prstGeom>
          <a:solidFill>
            <a:srgbClr val="232D50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2895305" y="210312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5050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E05050"/>
                </a:solidFill>
                <a:latin typeface="Calibri"/>
                <a:ea typeface="Calibri"/>
                <a:cs typeface="Calibri"/>
                <a:sym typeface="Calibri"/>
              </a:rPr>
              <a:t>0.346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2895305" y="237744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Recall — No Weight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2895305" y="2734058"/>
            <a:ext cx="2743200" cy="567000"/>
          </a:xfrm>
          <a:prstGeom prst="rect">
            <a:avLst/>
          </a:prstGeom>
          <a:solidFill>
            <a:srgbClr val="232D50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2895305" y="276149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AF7D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4CAF7D"/>
                </a:solidFill>
                <a:latin typeface="Calibri"/>
                <a:ea typeface="Calibri"/>
                <a:cs typeface="Calibri"/>
                <a:sym typeface="Calibri"/>
              </a:rPr>
              <a:t>0.682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2895305" y="303581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Recall — Balanced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2895305" y="3392426"/>
            <a:ext cx="2743200" cy="567000"/>
          </a:xfrm>
          <a:prstGeom prst="rect">
            <a:avLst/>
          </a:prstGeom>
          <a:solidFill>
            <a:srgbClr val="232D50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2895305" y="3419858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+97%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2895305" y="3694178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Gain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320040" y="4343400"/>
            <a:ext cx="8503920" cy="27432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Decision: class_weight='balanced' gives F1=0.587 — the best balanced metric.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0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solidFill>
            <a:srgbClr val="E8A400"/>
          </a:solidFill>
          <a:ln w="12700" cap="flat" cmpd="sng">
            <a:solidFill>
              <a:srgbClr val="E8A4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0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EXPERIMENTS 3 &amp; 4 — PENALTY &amp; SOLVER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Penalty &amp; Solver: Confirming Robustness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1725240" y="1508897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Penalty Type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6570350" y="1508897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Solver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74800" y="1873954"/>
            <a:ext cx="4023300" cy="1615200"/>
          </a:xfrm>
          <a:prstGeom prst="rect">
            <a:avLst/>
          </a:prstGeom>
          <a:solidFill>
            <a:srgbClr val="232D50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0"/>
          <p:cNvSpPr/>
          <p:nvPr/>
        </p:nvSpPr>
        <p:spPr>
          <a:xfrm>
            <a:off x="74800" y="1873954"/>
            <a:ext cx="63900" cy="161520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0"/>
          <p:cNvSpPr/>
          <p:nvPr/>
        </p:nvSpPr>
        <p:spPr>
          <a:xfrm>
            <a:off x="211960" y="1954711"/>
            <a:ext cx="37491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AF7D"/>
              </a:buClr>
              <a:buSzPts val="900"/>
              <a:buFont typeface="Calibri"/>
              <a:buNone/>
            </a:pPr>
            <a:r>
              <a:rPr lang="en-US" sz="900" b="1" dirty="0">
                <a:solidFill>
                  <a:srgbClr val="4CAF7D"/>
                </a:solidFill>
                <a:latin typeface="Calibri"/>
                <a:ea typeface="Calibri"/>
                <a:cs typeface="Calibri"/>
                <a:sym typeface="Calibri"/>
              </a:rPr>
              <a:t>Penalty, Minor Difference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211960" y="2390802"/>
            <a:ext cx="3749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L1, L2, and ElasticNet all produce near-identical results. The dataset has no severe multicollinearity, so L1's feature-zeroing effect is minimal. L2 chosen by convention.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5059125" y="1835354"/>
            <a:ext cx="4023300" cy="1615200"/>
          </a:xfrm>
          <a:prstGeom prst="rect">
            <a:avLst/>
          </a:prstGeom>
          <a:solidFill>
            <a:srgbClr val="232D50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0"/>
          <p:cNvSpPr/>
          <p:nvPr/>
        </p:nvSpPr>
        <p:spPr>
          <a:xfrm>
            <a:off x="5059125" y="1835354"/>
            <a:ext cx="63900" cy="1615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5196285" y="1916114"/>
            <a:ext cx="37491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900"/>
              <a:buFont typeface="Calibri"/>
              <a:buNone/>
            </a:pPr>
            <a:r>
              <a:rPr lang="en-US" sz="900" b="1" dirty="0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Solver, No Difference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5196285" y="2352218"/>
            <a:ext cx="3749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All 4 solvers converge to the exact same solution. This is expected for a well-scaled dataset without extreme sparsity. Confirms the preprocessing pipeline is sound.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74801" y="3787150"/>
            <a:ext cx="9007500" cy="255900"/>
          </a:xfrm>
          <a:prstGeom prst="rect">
            <a:avLst/>
          </a:prstGeom>
          <a:solidFill>
            <a:srgbClr val="1E2645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Conclusion: Only C and class_weight meaningfully affect performance on this dataset.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solidFill>
            <a:srgbClr val="E8A400"/>
          </a:solidFill>
          <a:ln w="12700" cap="flat" cmpd="sng">
            <a:solidFill>
              <a:srgbClr val="E8A4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1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FINAL MODEL EVALUATION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Tuned Logistic Regression — Full Results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320040" y="105156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Baseline vs. Tuned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5486400" y="1051560"/>
            <a:ext cx="3337500" cy="173730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1"/>
          <p:cNvSpPr/>
          <p:nvPr/>
        </p:nvSpPr>
        <p:spPr>
          <a:xfrm>
            <a:off x="5577840" y="1097280"/>
            <a:ext cx="3154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Confusion Matrix (Tuned)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4" name="Google Shape;504;p21"/>
          <p:cNvGraphicFramePr/>
          <p:nvPr>
            <p:extLst>
              <p:ext uri="{D42A27DB-BD31-4B8C-83A1-F6EECF244321}">
                <p14:modId xmlns:p14="http://schemas.microsoft.com/office/powerpoint/2010/main" val="1937088012"/>
              </p:ext>
            </p:extLst>
          </p:nvPr>
        </p:nvGraphicFramePr>
        <p:xfrm>
          <a:off x="5577840" y="1389888"/>
          <a:ext cx="3108975" cy="1234425"/>
        </p:xfrm>
        <a:graphic>
          <a:graphicData uri="http://schemas.openxmlformats.org/drawingml/2006/table">
            <a:tbl>
              <a:tblPr>
                <a:noFill/>
                <a:tableStyleId>{9F130DDF-46BF-4BAB-ABC2-56BC110CC8FB}</a:tableStyleId>
              </a:tblPr>
              <a:tblGrid>
                <a:gridCol w="10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bg1"/>
                          </a:solidFill>
                        </a:rPr>
                        <a:t>Pred: No</a:t>
                      </a:r>
                      <a:endParaRPr sz="1200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bg1"/>
                          </a:solidFill>
                        </a:rPr>
                        <a:t>Pred: Yes</a:t>
                      </a:r>
                      <a:endParaRPr sz="1200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bg1"/>
                          </a:solidFill>
                        </a:rPr>
                        <a:t>True: No</a:t>
                      </a:r>
                      <a:endParaRPr sz="1200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bg1"/>
                          </a:solidFill>
                        </a:rPr>
                        <a:t>TN = 244</a:t>
                      </a:r>
                      <a:endParaRPr sz="1200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bg1"/>
                          </a:solidFill>
                        </a:rPr>
                        <a:t>FP = 139</a:t>
                      </a:r>
                      <a:endParaRPr sz="1200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bg1"/>
                          </a:solidFill>
                        </a:rPr>
                        <a:t>True: Yes</a:t>
                      </a:r>
                      <a:endParaRPr sz="1200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chemeClr val="bg1"/>
                          </a:solidFill>
                        </a:rPr>
                        <a:t>FN = 69</a:t>
                      </a:r>
                      <a:endParaRPr sz="1200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bg1"/>
                          </a:solidFill>
                        </a:rPr>
                        <a:t>TP = 148</a:t>
                      </a:r>
                      <a:endParaRPr sz="12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A35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5" name="Google Shape;505;p21"/>
          <p:cNvSpPr/>
          <p:nvPr/>
        </p:nvSpPr>
        <p:spPr>
          <a:xfrm>
            <a:off x="5486400" y="2852928"/>
            <a:ext cx="3337560" cy="1371600"/>
          </a:xfrm>
          <a:prstGeom prst="rect">
            <a:avLst/>
          </a:prstGeom>
          <a:solidFill>
            <a:srgbClr val="232D50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5577840" y="2907792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Reading the Matrix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5577840" y="3182112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AF7D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CAF7D"/>
                </a:solidFill>
                <a:latin typeface="Calibri"/>
                <a:ea typeface="Calibri"/>
                <a:cs typeface="Calibri"/>
                <a:sym typeface="Calibri"/>
              </a:rPr>
              <a:t>✓ 148 churners correctly identified (TP)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⚠ 69 churners missed — FN (cost: lost customers)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505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05050"/>
                </a:solidFill>
                <a:latin typeface="Calibri"/>
                <a:ea typeface="Calibri"/>
                <a:cs typeface="Calibri"/>
                <a:sym typeface="Calibri"/>
              </a:rPr>
              <a:t>⚠ 139 false alarms — FP (cost: retention budget waste)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AF7D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CAF7D"/>
                </a:solidFill>
                <a:latin typeface="Calibri"/>
                <a:ea typeface="Calibri"/>
                <a:cs typeface="Calibri"/>
                <a:sym typeface="Calibri"/>
              </a:rPr>
              <a:t>✓ Tuned model catches 2× more churners vs baseline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320040" y="400507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Final Tuned Model — Summary Metrics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320040" y="4315968"/>
            <a:ext cx="1664208" cy="73152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1"/>
          <p:cNvSpPr/>
          <p:nvPr/>
        </p:nvSpPr>
        <p:spPr>
          <a:xfrm>
            <a:off x="320040" y="4343400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750"/>
              <a:buFont typeface="Calibri"/>
              <a:buNone/>
            </a:pPr>
            <a:r>
              <a:rPr lang="en-US" sz="75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320040" y="454456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65.3%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2057400" y="4315968"/>
            <a:ext cx="1664208" cy="73152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1"/>
          <p:cNvSpPr/>
          <p:nvPr/>
        </p:nvSpPr>
        <p:spPr>
          <a:xfrm>
            <a:off x="2057400" y="4343400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750"/>
              <a:buFont typeface="Calibri"/>
              <a:buNone/>
            </a:pPr>
            <a:r>
              <a:rPr lang="en-US" sz="75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2057400" y="454456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51.6%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3794760" y="4315968"/>
            <a:ext cx="1664208" cy="731520"/>
          </a:xfrm>
          <a:prstGeom prst="rect">
            <a:avLst/>
          </a:prstGeom>
          <a:solidFill>
            <a:srgbClr val="1A3A1E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1"/>
          <p:cNvSpPr/>
          <p:nvPr/>
        </p:nvSpPr>
        <p:spPr>
          <a:xfrm>
            <a:off x="3794760" y="4343400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AF7D"/>
              </a:buClr>
              <a:buSzPts val="750"/>
              <a:buFont typeface="Calibri"/>
              <a:buNone/>
            </a:pPr>
            <a:r>
              <a:rPr lang="en-US" sz="750" b="1">
                <a:solidFill>
                  <a:srgbClr val="4CAF7D"/>
                </a:solidFill>
                <a:latin typeface="Calibri"/>
                <a:ea typeface="Calibri"/>
                <a:cs typeface="Calibri"/>
                <a:sym typeface="Calibri"/>
              </a:rPr>
              <a:t>Recall ★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3794760" y="454456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AF7D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4CAF7D"/>
                </a:solidFill>
                <a:latin typeface="Calibri"/>
                <a:ea typeface="Calibri"/>
                <a:cs typeface="Calibri"/>
                <a:sym typeface="Calibri"/>
              </a:rPr>
              <a:t>68.2%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5532120" y="4315968"/>
            <a:ext cx="1664208" cy="73152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1"/>
          <p:cNvSpPr/>
          <p:nvPr/>
        </p:nvSpPr>
        <p:spPr>
          <a:xfrm>
            <a:off x="5532120" y="4343400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750"/>
              <a:buFont typeface="Calibri"/>
              <a:buNone/>
            </a:pPr>
            <a:r>
              <a:rPr lang="en-US" sz="75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5532120" y="454456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58.7%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7269480" y="4315968"/>
            <a:ext cx="1664208" cy="73152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1"/>
          <p:cNvSpPr/>
          <p:nvPr/>
        </p:nvSpPr>
        <p:spPr>
          <a:xfrm>
            <a:off x="7269480" y="4343400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750"/>
              <a:buFont typeface="Calibri"/>
              <a:buNone/>
            </a:pPr>
            <a:r>
              <a:rPr lang="en-US" sz="75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7269480" y="454456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3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solidFill>
            <a:srgbClr val="E8A400"/>
          </a:solidFill>
          <a:ln w="12700" cap="flat" cmpd="sng">
            <a:solidFill>
              <a:srgbClr val="E8A4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3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PROJECT SUMMARY — ALL 3 PHASES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 Across All Phases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320040" y="1097280"/>
            <a:ext cx="2834640" cy="310896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3"/>
          <p:cNvSpPr/>
          <p:nvPr/>
        </p:nvSpPr>
        <p:spPr>
          <a:xfrm>
            <a:off x="320040" y="1097280"/>
            <a:ext cx="28346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3"/>
          <p:cNvSpPr/>
          <p:nvPr/>
        </p:nvSpPr>
        <p:spPr>
          <a:xfrm>
            <a:off x="320040" y="10972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Phase 1 — Data Preparation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457200" y="15087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MNAR flags preserved for engagement_score &amp; support_tickets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457200" y="2029968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Formula-derived imputation for avg_session_minutes (−54% MAE)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457200" y="2551176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All outliers retained — they are real high-risk signals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457200" y="3072384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disengagement_index becomes the #1 engineered feature (r=+0.133)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/>
          <p:nvPr/>
        </p:nvSpPr>
        <p:spPr>
          <a:xfrm>
            <a:off x="3246120" y="1097280"/>
            <a:ext cx="2834640" cy="310896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3246120" y="1097280"/>
            <a:ext cx="2834640" cy="347472"/>
          </a:xfrm>
          <a:prstGeom prst="rect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3"/>
          <p:cNvSpPr/>
          <p:nvPr/>
        </p:nvSpPr>
        <p:spPr>
          <a:xfrm>
            <a:off x="3246120" y="10972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Phase 2 — Algorithm Selection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/>
          <p:nvPr/>
        </p:nvSpPr>
        <p:spPr>
          <a:xfrm>
            <a:off x="3383280" y="15087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Logistic Regression selected: highest Recall (0.35) &amp; F1 (0.43)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3383280" y="2029968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Random Forest had worst Recall (0.28) — misses too many churners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/>
          <p:nvPr/>
        </p:nvSpPr>
        <p:spPr>
          <a:xfrm>
            <a:off x="3383280" y="2551176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Gradient Boosting slightly lower F1 despite higher complexity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3383280" y="3072384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Class imbalance makes accuracy misleading — F1 &amp; Recall are key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6172200" y="1097280"/>
            <a:ext cx="2834640" cy="3108960"/>
          </a:xfrm>
          <a:prstGeom prst="rect">
            <a:avLst/>
          </a:prstGeom>
          <a:solidFill>
            <a:srgbClr val="1E2645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3"/>
          <p:cNvSpPr/>
          <p:nvPr/>
        </p:nvSpPr>
        <p:spPr>
          <a:xfrm>
            <a:off x="6172200" y="1097280"/>
            <a:ext cx="2834640" cy="34747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3"/>
          <p:cNvSpPr/>
          <p:nvPr/>
        </p:nvSpPr>
        <p:spPr>
          <a:xfrm>
            <a:off x="6172200" y="10972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192E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3192E"/>
                </a:solidFill>
                <a:latin typeface="Calibri"/>
                <a:ea typeface="Calibri"/>
                <a:cs typeface="Calibri"/>
                <a:sym typeface="Calibri"/>
              </a:rPr>
              <a:t>Phase 3 — Hyperparameter Tuning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6309360" y="15087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class_weight='balanced' most impactful: Recall 0.35→0.68 (+97%)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3"/>
          <p:cNvSpPr/>
          <p:nvPr/>
        </p:nvSpPr>
        <p:spPr>
          <a:xfrm>
            <a:off x="6309360" y="2029968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C parameter plateau at ≥0.5 — regularization already optimal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6309360" y="2551176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Penalty &amp; solver: no meaningful difference on this data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6309360" y="3072384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800"/>
              <a:buFont typeface="Calibri"/>
              <a:buChar char="•"/>
            </a:pPr>
            <a:r>
              <a:rPr lang="en-US" sz="80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Final AUC=0.700, F1=0.587 — significant improvement over baseline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/>
          <p:nvPr/>
        </p:nvSpPr>
        <p:spPr>
          <a:xfrm>
            <a:off x="320040" y="4279392"/>
            <a:ext cx="8503920" cy="777240"/>
          </a:xfrm>
          <a:prstGeom prst="rect">
            <a:avLst/>
          </a:prstGeom>
          <a:solidFill>
            <a:srgbClr val="232D50"/>
          </a:solidFill>
          <a:ln w="12700" cap="flat" cmpd="sng">
            <a:solidFill>
              <a:srgbClr val="2A355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3"/>
          <p:cNvSpPr/>
          <p:nvPr/>
        </p:nvSpPr>
        <p:spPr>
          <a:xfrm>
            <a:off x="457200" y="43251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Limitations &amp; Next Steps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/>
          <p:nvPr/>
        </p:nvSpPr>
        <p:spPr>
          <a:xfrm>
            <a:off x="457200" y="455371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→ AUC of 0.70 suggests moderate predictive signal — dataset may benefit from more interaction features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3291840" y="455371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→ SMOTE oversampling could further improve Recall without sacrificing Precision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6126480" y="455371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DE4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0EDE4"/>
                </a:solidFill>
                <a:latin typeface="Calibri"/>
                <a:ea typeface="Calibri"/>
                <a:cs typeface="Calibri"/>
                <a:sym typeface="Calibri"/>
              </a:rPr>
              <a:t>→ Threshold tuning (moving from 0.5 default) offers another lever to optimize Recall vs Precision trade-off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2190</Words>
  <Application>Microsoft Office PowerPoint</Application>
  <PresentationFormat>On-screen Show (16:9)</PresentationFormat>
  <Paragraphs>390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THE GOOD MOHAMMED</dc:creator>
  <cp:lastModifiedBy>THE GOOD MOHAMMED</cp:lastModifiedBy>
  <cp:revision>1</cp:revision>
  <dcterms:modified xsi:type="dcterms:W3CDTF">2026-04-19T14:36:23Z</dcterms:modified>
</cp:coreProperties>
</file>